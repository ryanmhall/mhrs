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57200C-7D15-4797-A20C-0C5A8E009D4E}" v="12" dt="2026-10-13T18:43:08.3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9774" autoAdjust="0"/>
  </p:normalViewPr>
  <p:slideViewPr>
    <p:cSldViewPr snapToGrid="0" snapToObjects="1">
      <p:cViewPr>
        <p:scale>
          <a:sx n="100" d="100"/>
          <a:sy n="100" d="100"/>
        </p:scale>
        <p:origin x="0" y="-150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3A2376-C5B8-4EE8-8F7A-E0841512F035}" type="datetimeFigureOut">
              <a:rPr lang="en-US" smtClean="0"/>
              <a:t>10/13/2026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5C476E-05EB-4051-AEF4-48EB58317DB0}" type="slidenum">
              <a:rPr lang="en-US" smtClean="0"/>
              <a:t>‹#›</a:t>
            </a:fld>
            <a:endParaRPr lang="en-US"/>
          </a:p>
        </p:txBody>
      </p:sp>
    </p:spTree>
    <p:extLst>
      <p:ext uri="{BB962C8B-B14F-4D97-AF65-F5344CB8AC3E}">
        <p14:creationId xmlns:p14="http://schemas.microsoft.com/office/powerpoint/2010/main" val="98047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 everyone, we’re Aoke and Ryan, and our project is the Multispectral Heart Rate Sensor, or MHRS. We're investigating ways to improve the reliability of optical heart-rate measurements during movement. Today we'll share our Sprint 1 progress, including our initial signal-processing results.</a:t>
            </a:r>
          </a:p>
        </p:txBody>
      </p:sp>
      <p:sp>
        <p:nvSpPr>
          <p:cNvPr id="4" name="Slide Number Placeholder 3"/>
          <p:cNvSpPr>
            <a:spLocks noGrp="1"/>
          </p:cNvSpPr>
          <p:nvPr>
            <p:ph type="sldNum" sz="quarter" idx="5"/>
          </p:nvPr>
        </p:nvSpPr>
        <p:spPr/>
        <p:txBody>
          <a:bodyPr/>
          <a:lstStyle/>
          <a:p>
            <a:fld id="{B25C476E-05EB-4051-AEF4-48EB58317DB0}" type="slidenum">
              <a:rPr lang="en-US" smtClean="0"/>
              <a:t>1</a:t>
            </a:fld>
            <a:endParaRPr lang="en-US"/>
          </a:p>
        </p:txBody>
      </p:sp>
    </p:spTree>
    <p:extLst>
      <p:ext uri="{BB962C8B-B14F-4D97-AF65-F5344CB8AC3E}">
        <p14:creationId xmlns:p14="http://schemas.microsoft.com/office/powerpoint/2010/main" val="3256818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target user is a runner who relies on heart rate to guide their workout intensity. The problem is that wrist PPG measurements can become unreliable when the runner moves. Our mission is to test sensing and processing strategies that make heart-rate estimates more robust, rather than assume one technique already solves motion artifacts, thus we get our mission statement of </a:t>
            </a:r>
            <a:r>
              <a:rPr lang="en-US" sz="1200" b="1" dirty="0">
                <a:solidFill>
                  <a:srgbClr val="F4F9FC"/>
                </a:solidFill>
                <a:latin typeface="+mn-lt"/>
              </a:rPr>
              <a:t>For runners who rely on heart-rate data to guide exercise intensity, MHRS is a wearable sensing platform that investigates optical sensing and signal-processing techniques to improve heart-rate measurement reliability during movement.</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B25C476E-05EB-4051-AEF4-48EB58317DB0}" type="slidenum">
              <a:rPr lang="en-US" smtClean="0"/>
              <a:t>2</a:t>
            </a:fld>
            <a:endParaRPr lang="en-US"/>
          </a:p>
        </p:txBody>
      </p:sp>
    </p:spTree>
    <p:extLst>
      <p:ext uri="{BB962C8B-B14F-4D97-AF65-F5344CB8AC3E}">
        <p14:creationId xmlns:p14="http://schemas.microsoft.com/office/powerpoint/2010/main" val="363966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translated that mission into five user stories. A runner should be able to stay in a target cardio zone, obtain useful measurements while moving, save timestamped heart-rate data for later review, wear the sensor without holding it in place, and use it for reasonable periods without frequent charging. Each story has measurable acceptance criteria, such as comparing readings with a reference or estimating battery runtime. During Sprint 1, we focused especially on data processing and proving our analysis workflow works.</a:t>
            </a:r>
          </a:p>
          <a:p>
            <a:endParaRPr lang="en-US" dirty="0"/>
          </a:p>
        </p:txBody>
      </p:sp>
      <p:sp>
        <p:nvSpPr>
          <p:cNvPr id="4" name="Slide Number Placeholder 3"/>
          <p:cNvSpPr>
            <a:spLocks noGrp="1"/>
          </p:cNvSpPr>
          <p:nvPr>
            <p:ph type="sldNum" sz="quarter" idx="5"/>
          </p:nvPr>
        </p:nvSpPr>
        <p:spPr/>
        <p:txBody>
          <a:bodyPr/>
          <a:lstStyle/>
          <a:p>
            <a:fld id="{B25C476E-05EB-4051-AEF4-48EB58317DB0}" type="slidenum">
              <a:rPr lang="en-US" smtClean="0"/>
              <a:t>3</a:t>
            </a:fld>
            <a:endParaRPr lang="en-US"/>
          </a:p>
        </p:txBody>
      </p:sp>
    </p:spTree>
    <p:extLst>
      <p:ext uri="{BB962C8B-B14F-4D97-AF65-F5344CB8AC3E}">
        <p14:creationId xmlns:p14="http://schemas.microsoft.com/office/powerpoint/2010/main" val="175892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analysis, we used Python, NumPy and SciPy to load PPG-</a:t>
            </a:r>
            <a:r>
              <a:rPr lang="en-US" dirty="0" err="1"/>
              <a:t>DaLiA</a:t>
            </a:r>
            <a:r>
              <a:rPr lang="en-US" dirty="0"/>
              <a:t> wrist PPG data, filter the signal, and estimate heart rate. Pandas helps with the outlier rejection and smoothing, and Matplotlib visualizes the comparison with ECG-based reference values. GitHub is where we track our work and document the implementation. Separately, our intended hardware path uses a PPG sensor, microcontroller and motion sensor; that hardware acquisition pipeline is a next step, not a completed result on this slide.</a:t>
            </a:r>
          </a:p>
          <a:p>
            <a:endParaRPr lang="en-US" dirty="0"/>
          </a:p>
        </p:txBody>
      </p:sp>
      <p:sp>
        <p:nvSpPr>
          <p:cNvPr id="4" name="Slide Number Placeholder 3"/>
          <p:cNvSpPr>
            <a:spLocks noGrp="1"/>
          </p:cNvSpPr>
          <p:nvPr>
            <p:ph type="sldNum" sz="quarter" idx="5"/>
          </p:nvPr>
        </p:nvSpPr>
        <p:spPr/>
        <p:txBody>
          <a:bodyPr/>
          <a:lstStyle/>
          <a:p>
            <a:fld id="{B25C476E-05EB-4051-AEF4-48EB58317DB0}" type="slidenum">
              <a:rPr lang="en-US" smtClean="0"/>
              <a:t>4</a:t>
            </a:fld>
            <a:endParaRPr lang="en-US"/>
          </a:p>
        </p:txBody>
      </p:sp>
    </p:spTree>
    <p:extLst>
      <p:ext uri="{BB962C8B-B14F-4D97-AF65-F5344CB8AC3E}">
        <p14:creationId xmlns:p14="http://schemas.microsoft.com/office/powerpoint/2010/main" val="1549126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our main demonstrated result so far. We used subject S1 from the PPG-</a:t>
            </a:r>
            <a:r>
              <a:rPr lang="en-US" dirty="0" err="1"/>
              <a:t>DaLiA</a:t>
            </a:r>
            <a:r>
              <a:rPr lang="en-US" dirty="0"/>
              <a:t> dataset, with wrist blood-volume-pulse recordings and chest-ECG heart-rate labels. We filtered the PPG, divided it into eight-second windows stepping every two seconds, and found the strongest frequency peak in each window to estimate heart rate. The first comparison had a mean absolute error of 11.0 beats per minute. We then applied a median-based outlier gate and moving average to the PPG-derived estimates, without using the reference labels to clean them. That reduced mean absolute error to 7.2 BPM—about a 35 percent decrease for this subject. The important limitation is that this is offline, centered smoothing on just one subject. It demonstrates a working analysis pipeline, not yet real-time accuracy or improved hardware performance.</a:t>
            </a:r>
          </a:p>
          <a:p>
            <a:endParaRPr lang="en-US" dirty="0"/>
          </a:p>
          <a:p>
            <a:endParaRPr lang="en-US" dirty="0"/>
          </a:p>
          <a:p>
            <a:r>
              <a:rPr lang="en-US" dirty="0"/>
              <a:t>1. Load recorded wrist PPG and ECG labels</a:t>
            </a:r>
          </a:p>
          <a:p>
            <a:r>
              <a:rPr lang="en-US" dirty="0"/>
              <a:t>PPG-</a:t>
            </a:r>
            <a:r>
              <a:rPr lang="en-US" dirty="0" err="1"/>
              <a:t>DaLiA</a:t>
            </a:r>
            <a:r>
              <a:rPr lang="en-US" dirty="0"/>
              <a:t> subject S1, wrist PPG sampled at 64 Hz</a:t>
            </a:r>
          </a:p>
          <a:p>
            <a:r>
              <a:rPr lang="en-US" dirty="0"/>
              <a:t>2. Bandpass-filter the PPG</a:t>
            </a:r>
          </a:p>
          <a:p>
            <a:r>
              <a:rPr lang="en-US" dirty="0"/>
              <a:t>Keep approximately 0.5–4 Hz components</a:t>
            </a:r>
          </a:p>
          <a:p>
            <a:r>
              <a:rPr lang="en-US" dirty="0"/>
              <a:t>3. Estimate heart rate using FFT</a:t>
            </a:r>
          </a:p>
          <a:p>
            <a:r>
              <a:rPr lang="en-US" dirty="0"/>
              <a:t>Analyze 8-second windows, advancing 2 seconds each time</a:t>
            </a:r>
          </a:p>
          <a:p>
            <a:r>
              <a:rPr lang="en-US" dirty="0"/>
              <a:t>4. Apply outlier rejection and smoothing</a:t>
            </a:r>
          </a:p>
          <a:p>
            <a:r>
              <a:rPr lang="en-US" dirty="0"/>
              <a:t>15-window (~30-second) median-guided cleaning</a:t>
            </a:r>
          </a:p>
          <a:p>
            <a:r>
              <a:rPr lang="en-US" dirty="0"/>
              <a:t>5. Compare against ECG reference</a:t>
            </a:r>
          </a:p>
          <a:p>
            <a:r>
              <a:rPr lang="en-US" dirty="0"/>
              <a:t>Calculate the mean absolute error before and after</a:t>
            </a:r>
          </a:p>
          <a:p>
            <a:endParaRPr lang="en-US" dirty="0"/>
          </a:p>
        </p:txBody>
      </p:sp>
      <p:sp>
        <p:nvSpPr>
          <p:cNvPr id="4" name="Slide Number Placeholder 3"/>
          <p:cNvSpPr>
            <a:spLocks noGrp="1"/>
          </p:cNvSpPr>
          <p:nvPr>
            <p:ph type="sldNum" sz="quarter" idx="5"/>
          </p:nvPr>
        </p:nvSpPr>
        <p:spPr/>
        <p:txBody>
          <a:bodyPr/>
          <a:lstStyle/>
          <a:p>
            <a:fld id="{B25C476E-05EB-4051-AEF4-48EB58317DB0}" type="slidenum">
              <a:rPr lang="en-US" smtClean="0"/>
              <a:t>5</a:t>
            </a:fld>
            <a:endParaRPr lang="en-US"/>
          </a:p>
        </p:txBody>
      </p:sp>
    </p:spTree>
    <p:extLst>
      <p:ext uri="{BB962C8B-B14F-4D97-AF65-F5344CB8AC3E}">
        <p14:creationId xmlns:p14="http://schemas.microsoft.com/office/powerpoint/2010/main" val="1617966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Two findings changed our approach. First, timing alignment is essential: the ECG-derived labels are provided every two seconds, where if you incorrectly align labels to PPG measurements, you can create artificial differences between the signals and miscalculate error. Second, smoothing can remove isolated bad estimates, but it cannot reliably distinguish a sustained movement frequency from the actual pulse such as if there was repetitive arm movement which could be misidentified as the pulse. It also smooths away some rapid heart-rate changes, and our centered implementation uses future data. So instead of jumping directly into custom optics, we’re prioritizing a reproducible baseline, synchronized motion sensing, and a clearer experimental design.</a:t>
            </a:r>
          </a:p>
          <a:p>
            <a:endParaRPr lang="en-US" dirty="0"/>
          </a:p>
        </p:txBody>
      </p:sp>
      <p:sp>
        <p:nvSpPr>
          <p:cNvPr id="4" name="Slide Number Placeholder 3"/>
          <p:cNvSpPr>
            <a:spLocks noGrp="1"/>
          </p:cNvSpPr>
          <p:nvPr>
            <p:ph type="sldNum" sz="quarter" idx="5"/>
          </p:nvPr>
        </p:nvSpPr>
        <p:spPr/>
        <p:txBody>
          <a:bodyPr/>
          <a:lstStyle/>
          <a:p>
            <a:fld id="{B25C476E-05EB-4051-AEF4-48EB58317DB0}" type="slidenum">
              <a:rPr lang="en-US" smtClean="0"/>
              <a:t>6</a:t>
            </a:fld>
            <a:endParaRPr lang="en-US"/>
          </a:p>
        </p:txBody>
      </p:sp>
    </p:spTree>
    <p:extLst>
      <p:ext uri="{BB962C8B-B14F-4D97-AF65-F5344CB8AC3E}">
        <p14:creationId xmlns:p14="http://schemas.microsoft.com/office/powerpoint/2010/main" val="3675748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Sprint 2, our goal is to demonstrate both a reproducible heart-rate processing baseline and an initial path for acquiring sensor measurements. We’ll lock down the hardware architecture, test PPG and IMU acquisition, define a reference measurement protocol, and plan a small study comparing sensor geometry and filtering. Our biggest risk is reliably synchronizing streams from the sensors. We’d especially appreciate feedback on a feasible reference setup and a controlled protocol we can complete within the semester. Thank you!</a:t>
            </a:r>
          </a:p>
          <a:p>
            <a:endParaRPr lang="en-US" dirty="0"/>
          </a:p>
        </p:txBody>
      </p:sp>
      <p:sp>
        <p:nvSpPr>
          <p:cNvPr id="4" name="Slide Number Placeholder 3"/>
          <p:cNvSpPr>
            <a:spLocks noGrp="1"/>
          </p:cNvSpPr>
          <p:nvPr>
            <p:ph type="sldNum" sz="quarter" idx="5"/>
          </p:nvPr>
        </p:nvSpPr>
        <p:spPr/>
        <p:txBody>
          <a:bodyPr/>
          <a:lstStyle/>
          <a:p>
            <a:fld id="{B25C476E-05EB-4051-AEF4-48EB58317DB0}" type="slidenum">
              <a:rPr lang="en-US" smtClean="0"/>
              <a:t>7</a:t>
            </a:fld>
            <a:endParaRPr lang="en-US"/>
          </a:p>
        </p:txBody>
      </p:sp>
    </p:spTree>
    <p:extLst>
      <p:ext uri="{BB962C8B-B14F-4D97-AF65-F5344CB8AC3E}">
        <p14:creationId xmlns:p14="http://schemas.microsoft.com/office/powerpoint/2010/main" val="3656168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1C2F"/>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73152" cy="512064"/>
          </a:xfrm>
          <a:prstGeom prst="rect">
            <a:avLst/>
          </a:prstGeom>
          <a:solidFill>
            <a:srgbClr val="30B1D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640080"/>
          </a:xfrm>
          <a:prstGeom prst="rect">
            <a:avLst/>
          </a:prstGeom>
          <a:noFill/>
        </p:spPr>
        <p:txBody>
          <a:bodyPr wrap="square">
            <a:spAutoFit/>
          </a:bodyPr>
          <a:lstStyle/>
          <a:p>
            <a:pPr>
              <a:spcAft>
                <a:spcPts val="1200"/>
              </a:spcAft>
              <a:defRPr sz="3000" b="1">
                <a:solidFill>
                  <a:srgbClr val="F4F9FC"/>
                </a:solidFill>
                <a:latin typeface="Aptos"/>
              </a:defRPr>
            </a:pPr>
            <a:r>
              <a:t>Multispectral Heart Rate Sensor</a:t>
            </a:r>
          </a:p>
        </p:txBody>
      </p:sp>
      <p:sp>
        <p:nvSpPr>
          <p:cNvPr id="4" name="TextBox 3"/>
          <p:cNvSpPr txBox="1"/>
          <p:nvPr/>
        </p:nvSpPr>
        <p:spPr>
          <a:xfrm>
            <a:off x="685800" y="6473952"/>
            <a:ext cx="9144000" cy="182880"/>
          </a:xfrm>
          <a:prstGeom prst="rect">
            <a:avLst/>
          </a:prstGeom>
          <a:noFill/>
        </p:spPr>
        <p:txBody>
          <a:bodyPr wrap="square">
            <a:spAutoFit/>
          </a:bodyPr>
          <a:lstStyle/>
          <a:p>
            <a:pPr>
              <a:spcAft>
                <a:spcPts val="1200"/>
              </a:spcAft>
              <a:defRPr sz="1000" b="0">
                <a:solidFill>
                  <a:srgbClr val="ACC0CF"/>
                </a:solidFill>
                <a:latin typeface="Aptos"/>
              </a:defRPr>
            </a:pPr>
            <a:r>
              <a:t>MHRS  /  EC601  /  SPRINT 1</a:t>
            </a:r>
          </a:p>
        </p:txBody>
      </p:sp>
      <p:sp>
        <p:nvSpPr>
          <p:cNvPr id="5" name="TextBox 4"/>
          <p:cNvSpPr txBox="1"/>
          <p:nvPr/>
        </p:nvSpPr>
        <p:spPr>
          <a:xfrm>
            <a:off x="11155680" y="6446520"/>
            <a:ext cx="457200" cy="228600"/>
          </a:xfrm>
          <a:prstGeom prst="rect">
            <a:avLst/>
          </a:prstGeom>
          <a:noFill/>
        </p:spPr>
        <p:txBody>
          <a:bodyPr wrap="square">
            <a:spAutoFit/>
          </a:bodyPr>
          <a:lstStyle/>
          <a:p>
            <a:pPr>
              <a:spcAft>
                <a:spcPts val="1200"/>
              </a:spcAft>
              <a:defRPr sz="1100" b="0">
                <a:solidFill>
                  <a:srgbClr val="ACC0CF"/>
                </a:solidFill>
                <a:latin typeface="Aptos"/>
              </a:defRPr>
            </a:pPr>
            <a:r>
              <a:t>01</a:t>
            </a:r>
          </a:p>
        </p:txBody>
      </p:sp>
      <p:sp>
        <p:nvSpPr>
          <p:cNvPr id="6" name="TextBox 5"/>
          <p:cNvSpPr txBox="1"/>
          <p:nvPr/>
        </p:nvSpPr>
        <p:spPr>
          <a:xfrm>
            <a:off x="868680" y="1600200"/>
            <a:ext cx="10424160" cy="1143000"/>
          </a:xfrm>
          <a:prstGeom prst="rect">
            <a:avLst/>
          </a:prstGeom>
          <a:noFill/>
        </p:spPr>
        <p:txBody>
          <a:bodyPr wrap="square">
            <a:spAutoFit/>
          </a:bodyPr>
          <a:lstStyle/>
          <a:p>
            <a:pPr>
              <a:spcAft>
                <a:spcPts val="1200"/>
              </a:spcAft>
              <a:defRPr sz="6400" b="1">
                <a:solidFill>
                  <a:srgbClr val="F4F9FC"/>
                </a:solidFill>
                <a:latin typeface="Aptos"/>
              </a:defRPr>
            </a:pPr>
            <a:r>
              <a:t>MHRS</a:t>
            </a:r>
          </a:p>
        </p:txBody>
      </p:sp>
      <p:sp>
        <p:nvSpPr>
          <p:cNvPr id="7" name="TextBox 6"/>
          <p:cNvSpPr txBox="1"/>
          <p:nvPr/>
        </p:nvSpPr>
        <p:spPr>
          <a:xfrm>
            <a:off x="914400" y="2926080"/>
            <a:ext cx="9784080" cy="1005840"/>
          </a:xfrm>
          <a:prstGeom prst="rect">
            <a:avLst/>
          </a:prstGeom>
          <a:noFill/>
        </p:spPr>
        <p:txBody>
          <a:bodyPr wrap="square">
            <a:spAutoFit/>
          </a:bodyPr>
          <a:lstStyle/>
          <a:p>
            <a:pPr>
              <a:spcAft>
                <a:spcPts val="1200"/>
              </a:spcAft>
              <a:defRPr sz="3100" b="0">
                <a:solidFill>
                  <a:srgbClr val="30B1DC"/>
                </a:solidFill>
                <a:latin typeface="Aptos"/>
              </a:defRPr>
            </a:pPr>
            <a:r>
              <a:t>Motion-robust wearable PPG sensing</a:t>
            </a:r>
          </a:p>
        </p:txBody>
      </p:sp>
      <p:sp>
        <p:nvSpPr>
          <p:cNvPr id="8" name="TextBox 7"/>
          <p:cNvSpPr txBox="1"/>
          <p:nvPr/>
        </p:nvSpPr>
        <p:spPr>
          <a:xfrm>
            <a:off x="914400" y="5029200"/>
            <a:ext cx="9144000" cy="914400"/>
          </a:xfrm>
          <a:prstGeom prst="rect">
            <a:avLst/>
          </a:prstGeom>
          <a:noFill/>
        </p:spPr>
        <p:txBody>
          <a:bodyPr wrap="square">
            <a:spAutoFit/>
          </a:bodyPr>
          <a:lstStyle/>
          <a:p>
            <a:pPr>
              <a:spcAft>
                <a:spcPts val="1200"/>
              </a:spcAft>
              <a:defRPr sz="2000" b="0">
                <a:solidFill>
                  <a:srgbClr val="ACC0CF"/>
                </a:solidFill>
                <a:latin typeface="Aptos"/>
              </a:defRPr>
            </a:pPr>
            <a:r>
              <a:t>Aoke Huang  •  Ryan Hall</a:t>
            </a:r>
          </a:p>
          <a:p>
            <a:pPr>
              <a:spcAft>
                <a:spcPts val="1200"/>
              </a:spcAft>
              <a:defRPr sz="2000" b="0">
                <a:solidFill>
                  <a:srgbClr val="ACC0CF"/>
                </a:solidFill>
                <a:latin typeface="Aptos"/>
              </a:defRPr>
            </a:pPr>
            <a:r>
              <a:t>Boston University  |  EC601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E1C2F"/>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73152" cy="512064"/>
          </a:xfrm>
          <a:prstGeom prst="rect">
            <a:avLst/>
          </a:prstGeom>
          <a:solidFill>
            <a:srgbClr val="30B1D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553998"/>
          </a:xfrm>
          <a:prstGeom prst="rect">
            <a:avLst/>
          </a:prstGeom>
          <a:noFill/>
        </p:spPr>
        <p:txBody>
          <a:bodyPr wrap="square">
            <a:spAutoFit/>
          </a:bodyPr>
          <a:lstStyle/>
          <a:p>
            <a:pPr>
              <a:spcAft>
                <a:spcPts val="1200"/>
              </a:spcAft>
              <a:defRPr sz="3000" b="1">
                <a:solidFill>
                  <a:srgbClr val="F4F9FC"/>
                </a:solidFill>
                <a:latin typeface="Aptos"/>
              </a:defRPr>
            </a:pPr>
            <a:r>
              <a:rPr dirty="0"/>
              <a:t>Mission </a:t>
            </a:r>
            <a:r>
              <a:rPr lang="en-US" dirty="0"/>
              <a:t>Statement</a:t>
            </a:r>
            <a:endParaRPr dirty="0"/>
          </a:p>
        </p:txBody>
      </p:sp>
      <p:sp>
        <p:nvSpPr>
          <p:cNvPr id="4" name="TextBox 3"/>
          <p:cNvSpPr txBox="1"/>
          <p:nvPr/>
        </p:nvSpPr>
        <p:spPr>
          <a:xfrm>
            <a:off x="685800" y="6473952"/>
            <a:ext cx="9144000" cy="182880"/>
          </a:xfrm>
          <a:prstGeom prst="rect">
            <a:avLst/>
          </a:prstGeom>
          <a:noFill/>
        </p:spPr>
        <p:txBody>
          <a:bodyPr wrap="square">
            <a:spAutoFit/>
          </a:bodyPr>
          <a:lstStyle/>
          <a:p>
            <a:pPr>
              <a:spcAft>
                <a:spcPts val="1200"/>
              </a:spcAft>
              <a:defRPr sz="1000" b="0">
                <a:solidFill>
                  <a:srgbClr val="ACC0CF"/>
                </a:solidFill>
                <a:latin typeface="Aptos"/>
              </a:defRPr>
            </a:pPr>
            <a:r>
              <a:t>MHRS  /  EC601  /  SPRINT 1</a:t>
            </a:r>
          </a:p>
        </p:txBody>
      </p:sp>
      <p:sp>
        <p:nvSpPr>
          <p:cNvPr id="5" name="TextBox 4"/>
          <p:cNvSpPr txBox="1"/>
          <p:nvPr/>
        </p:nvSpPr>
        <p:spPr>
          <a:xfrm>
            <a:off x="11155680" y="6446520"/>
            <a:ext cx="457200" cy="228600"/>
          </a:xfrm>
          <a:prstGeom prst="rect">
            <a:avLst/>
          </a:prstGeom>
          <a:noFill/>
        </p:spPr>
        <p:txBody>
          <a:bodyPr wrap="square">
            <a:spAutoFit/>
          </a:bodyPr>
          <a:lstStyle/>
          <a:p>
            <a:pPr>
              <a:spcAft>
                <a:spcPts val="1200"/>
              </a:spcAft>
              <a:defRPr sz="1100" b="0">
                <a:solidFill>
                  <a:srgbClr val="ACC0CF"/>
                </a:solidFill>
                <a:latin typeface="Aptos"/>
              </a:defRPr>
            </a:pPr>
            <a:r>
              <a:t>02</a:t>
            </a:r>
          </a:p>
        </p:txBody>
      </p:sp>
      <p:sp>
        <p:nvSpPr>
          <p:cNvPr id="6" name="TextBox 5"/>
          <p:cNvSpPr txBox="1"/>
          <p:nvPr/>
        </p:nvSpPr>
        <p:spPr>
          <a:xfrm>
            <a:off x="914400" y="1508760"/>
            <a:ext cx="10241280" cy="1508105"/>
          </a:xfrm>
          <a:prstGeom prst="rect">
            <a:avLst/>
          </a:prstGeom>
          <a:noFill/>
        </p:spPr>
        <p:txBody>
          <a:bodyPr wrap="square">
            <a:spAutoFit/>
          </a:bodyPr>
          <a:lstStyle/>
          <a:p>
            <a:pPr>
              <a:spcAft>
                <a:spcPts val="1200"/>
              </a:spcAft>
              <a:defRPr sz="3800" b="1">
                <a:solidFill>
                  <a:srgbClr val="F4F9FC"/>
                </a:solidFill>
                <a:latin typeface="Aptos"/>
              </a:defRPr>
            </a:pPr>
            <a:r>
              <a:rPr lang="en-US" sz="2300" b="1" dirty="0">
                <a:solidFill>
                  <a:srgbClr val="F4F9FC"/>
                </a:solidFill>
                <a:latin typeface="Aptos"/>
              </a:rPr>
              <a:t>For runners who rely on heart-rate data to guide exercise intensity, MHRS is a wearable sensing platform that investigates optical sensing and signal-processing techniques to improve heart-rate measurement reliability during movement.</a:t>
            </a:r>
            <a:endParaRPr sz="2300" dirty="0"/>
          </a:p>
        </p:txBody>
      </p:sp>
      <p:sp>
        <p:nvSpPr>
          <p:cNvPr id="7" name="Rounded Rectangle 6"/>
          <p:cNvSpPr/>
          <p:nvPr/>
        </p:nvSpPr>
        <p:spPr>
          <a:xfrm>
            <a:off x="914400" y="3337560"/>
            <a:ext cx="4846320" cy="2011680"/>
          </a:xfrm>
          <a:prstGeom prst="roundRect">
            <a:avLst/>
          </a:prstGeom>
          <a:solidFill>
            <a:srgbClr val="182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15568" y="3502152"/>
            <a:ext cx="4480559" cy="393192"/>
          </a:xfrm>
          <a:prstGeom prst="rect">
            <a:avLst/>
          </a:prstGeom>
          <a:noFill/>
        </p:spPr>
        <p:txBody>
          <a:bodyPr wrap="square">
            <a:spAutoFit/>
          </a:bodyPr>
          <a:lstStyle/>
          <a:p>
            <a:pPr>
              <a:spcAft>
                <a:spcPts val="1200"/>
              </a:spcAft>
              <a:defRPr sz="1800" b="1">
                <a:solidFill>
                  <a:srgbClr val="30B1DC"/>
                </a:solidFill>
                <a:latin typeface="Aptos"/>
              </a:defRPr>
            </a:pPr>
            <a:r>
              <a:t>FOR</a:t>
            </a:r>
          </a:p>
        </p:txBody>
      </p:sp>
      <p:sp>
        <p:nvSpPr>
          <p:cNvPr id="9" name="TextBox 8"/>
          <p:cNvSpPr txBox="1"/>
          <p:nvPr/>
        </p:nvSpPr>
        <p:spPr>
          <a:xfrm>
            <a:off x="1115568" y="4005072"/>
            <a:ext cx="4434840" cy="1234440"/>
          </a:xfrm>
          <a:prstGeom prst="rect">
            <a:avLst/>
          </a:prstGeom>
          <a:noFill/>
        </p:spPr>
        <p:txBody>
          <a:bodyPr wrap="square">
            <a:spAutoFit/>
          </a:bodyPr>
          <a:lstStyle/>
          <a:p>
            <a:pPr>
              <a:spcAft>
                <a:spcPts val="1200"/>
              </a:spcAft>
              <a:defRPr sz="2100" b="0">
                <a:solidFill>
                  <a:srgbClr val="F4F9FC"/>
                </a:solidFill>
                <a:latin typeface="Aptos"/>
              </a:defRPr>
            </a:pPr>
            <a:r>
              <a:t>Runners using heart rate to guide exercise intensity</a:t>
            </a:r>
          </a:p>
        </p:txBody>
      </p:sp>
      <p:sp>
        <p:nvSpPr>
          <p:cNvPr id="10" name="Rounded Rectangle 9"/>
          <p:cNvSpPr/>
          <p:nvPr/>
        </p:nvSpPr>
        <p:spPr>
          <a:xfrm>
            <a:off x="6035040" y="3337560"/>
            <a:ext cx="5029200" cy="2011680"/>
          </a:xfrm>
          <a:prstGeom prst="roundRect">
            <a:avLst/>
          </a:prstGeom>
          <a:solidFill>
            <a:srgbClr val="182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36207" y="3502152"/>
            <a:ext cx="4663440" cy="393192"/>
          </a:xfrm>
          <a:prstGeom prst="rect">
            <a:avLst/>
          </a:prstGeom>
          <a:noFill/>
        </p:spPr>
        <p:txBody>
          <a:bodyPr wrap="square">
            <a:spAutoFit/>
          </a:bodyPr>
          <a:lstStyle/>
          <a:p>
            <a:pPr>
              <a:spcAft>
                <a:spcPts val="1200"/>
              </a:spcAft>
              <a:defRPr sz="1800" b="1">
                <a:solidFill>
                  <a:srgbClr val="30B1DC"/>
                </a:solidFill>
                <a:latin typeface="Aptos"/>
              </a:defRPr>
            </a:pPr>
            <a:r>
              <a:t>HOW</a:t>
            </a:r>
          </a:p>
        </p:txBody>
      </p:sp>
      <p:sp>
        <p:nvSpPr>
          <p:cNvPr id="12" name="TextBox 11"/>
          <p:cNvSpPr txBox="1"/>
          <p:nvPr/>
        </p:nvSpPr>
        <p:spPr>
          <a:xfrm>
            <a:off x="6236207" y="4005072"/>
            <a:ext cx="4617720" cy="1234440"/>
          </a:xfrm>
          <a:prstGeom prst="rect">
            <a:avLst/>
          </a:prstGeom>
          <a:noFill/>
        </p:spPr>
        <p:txBody>
          <a:bodyPr wrap="square">
            <a:spAutoFit/>
          </a:bodyPr>
          <a:lstStyle/>
          <a:p>
            <a:pPr>
              <a:spcAft>
                <a:spcPts val="1200"/>
              </a:spcAft>
              <a:defRPr sz="1900" b="0">
                <a:solidFill>
                  <a:srgbClr val="F4F9FC"/>
                </a:solidFill>
                <a:latin typeface="Aptos"/>
              </a:defRPr>
            </a:pPr>
            <a:r>
              <a:t>Test wearable sensing and processing approaches that reduce motion-related corruption</a:t>
            </a:r>
          </a:p>
        </p:txBody>
      </p:sp>
      <p:sp>
        <p:nvSpPr>
          <p:cNvPr id="13" name="TextBox 12"/>
          <p:cNvSpPr txBox="1"/>
          <p:nvPr/>
        </p:nvSpPr>
        <p:spPr>
          <a:xfrm>
            <a:off x="914400" y="5669280"/>
            <a:ext cx="10058400" cy="338554"/>
          </a:xfrm>
          <a:prstGeom prst="rect">
            <a:avLst/>
          </a:prstGeom>
          <a:noFill/>
        </p:spPr>
        <p:txBody>
          <a:bodyPr wrap="square">
            <a:spAutoFit/>
          </a:bodyPr>
          <a:lstStyle/>
          <a:p>
            <a:pPr>
              <a:spcAft>
                <a:spcPts val="1200"/>
              </a:spcAft>
              <a:defRPr sz="1600" b="0">
                <a:solidFill>
                  <a:srgbClr val="ACC0CF"/>
                </a:solidFill>
                <a:latin typeface="Aptos"/>
              </a:defRPr>
            </a:pPr>
            <a:r>
              <a:rPr lang="en-US" dirty="0"/>
              <a:t>Th</a:t>
            </a:r>
            <a:r>
              <a:rPr dirty="0"/>
              <a:t>e mission may evolve after experimental testing.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E1C2F"/>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73152" cy="512064"/>
          </a:xfrm>
          <a:prstGeom prst="rect">
            <a:avLst/>
          </a:prstGeom>
          <a:solidFill>
            <a:srgbClr val="30B1D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553998"/>
          </a:xfrm>
          <a:prstGeom prst="rect">
            <a:avLst/>
          </a:prstGeom>
          <a:noFill/>
        </p:spPr>
        <p:txBody>
          <a:bodyPr wrap="square">
            <a:spAutoFit/>
          </a:bodyPr>
          <a:lstStyle/>
          <a:p>
            <a:pPr>
              <a:spcAft>
                <a:spcPts val="1200"/>
              </a:spcAft>
              <a:defRPr sz="3000" b="1">
                <a:solidFill>
                  <a:srgbClr val="F4F9FC"/>
                </a:solidFill>
                <a:latin typeface="Aptos"/>
              </a:defRPr>
            </a:pPr>
            <a:r>
              <a:rPr lang="en-US" dirty="0"/>
              <a:t>What </a:t>
            </a:r>
            <a:r>
              <a:rPr dirty="0"/>
              <a:t>we are building toward</a:t>
            </a:r>
          </a:p>
        </p:txBody>
      </p:sp>
      <p:sp>
        <p:nvSpPr>
          <p:cNvPr id="4" name="TextBox 3"/>
          <p:cNvSpPr txBox="1"/>
          <p:nvPr/>
        </p:nvSpPr>
        <p:spPr>
          <a:xfrm>
            <a:off x="685800" y="6473952"/>
            <a:ext cx="9144000" cy="182880"/>
          </a:xfrm>
          <a:prstGeom prst="rect">
            <a:avLst/>
          </a:prstGeom>
          <a:noFill/>
        </p:spPr>
        <p:txBody>
          <a:bodyPr wrap="square">
            <a:spAutoFit/>
          </a:bodyPr>
          <a:lstStyle/>
          <a:p>
            <a:pPr>
              <a:spcAft>
                <a:spcPts val="1200"/>
              </a:spcAft>
              <a:defRPr sz="1000" b="0">
                <a:solidFill>
                  <a:srgbClr val="ACC0CF"/>
                </a:solidFill>
                <a:latin typeface="Aptos"/>
              </a:defRPr>
            </a:pPr>
            <a:r>
              <a:t>MHRS  /  EC601  /  SPRINT 1</a:t>
            </a:r>
          </a:p>
        </p:txBody>
      </p:sp>
      <p:sp>
        <p:nvSpPr>
          <p:cNvPr id="5" name="TextBox 4"/>
          <p:cNvSpPr txBox="1"/>
          <p:nvPr/>
        </p:nvSpPr>
        <p:spPr>
          <a:xfrm>
            <a:off x="11155680" y="6446520"/>
            <a:ext cx="457200" cy="228600"/>
          </a:xfrm>
          <a:prstGeom prst="rect">
            <a:avLst/>
          </a:prstGeom>
          <a:noFill/>
        </p:spPr>
        <p:txBody>
          <a:bodyPr wrap="square">
            <a:spAutoFit/>
          </a:bodyPr>
          <a:lstStyle/>
          <a:p>
            <a:pPr>
              <a:spcAft>
                <a:spcPts val="1200"/>
              </a:spcAft>
              <a:defRPr sz="1100" b="0">
                <a:solidFill>
                  <a:srgbClr val="ACC0CF"/>
                </a:solidFill>
                <a:latin typeface="Aptos"/>
              </a:defRPr>
            </a:pPr>
            <a:r>
              <a:t>03</a:t>
            </a:r>
          </a:p>
        </p:txBody>
      </p:sp>
      <p:sp>
        <p:nvSpPr>
          <p:cNvPr id="6" name="Rounded Rectangle 5"/>
          <p:cNvSpPr/>
          <p:nvPr/>
        </p:nvSpPr>
        <p:spPr>
          <a:xfrm>
            <a:off x="822960" y="1371600"/>
            <a:ext cx="10515600" cy="804672"/>
          </a:xfrm>
          <a:prstGeom prst="roundRect">
            <a:avLst/>
          </a:prstGeom>
          <a:solidFill>
            <a:srgbClr val="182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1536192"/>
            <a:ext cx="10149840" cy="393192"/>
          </a:xfrm>
          <a:prstGeom prst="rect">
            <a:avLst/>
          </a:prstGeom>
          <a:noFill/>
        </p:spPr>
        <p:txBody>
          <a:bodyPr wrap="square">
            <a:spAutoFit/>
          </a:bodyPr>
          <a:lstStyle/>
          <a:p>
            <a:pPr>
              <a:spcAft>
                <a:spcPts val="1200"/>
              </a:spcAft>
              <a:defRPr sz="1800" b="1">
                <a:solidFill>
                  <a:srgbClr val="30B1DC"/>
                </a:solidFill>
                <a:latin typeface="Aptos"/>
              </a:defRPr>
            </a:pPr>
            <a:r>
              <a:t>01  Cardio zones</a:t>
            </a:r>
          </a:p>
        </p:txBody>
      </p:sp>
      <p:sp>
        <p:nvSpPr>
          <p:cNvPr id="8" name="TextBox 7"/>
          <p:cNvSpPr txBox="1"/>
          <p:nvPr/>
        </p:nvSpPr>
        <p:spPr>
          <a:xfrm>
            <a:off x="1018032" y="1856232"/>
            <a:ext cx="10104120" cy="27432"/>
          </a:xfrm>
          <a:prstGeom prst="rect">
            <a:avLst/>
          </a:prstGeom>
          <a:noFill/>
        </p:spPr>
        <p:txBody>
          <a:bodyPr wrap="square">
            <a:spAutoFit/>
          </a:bodyPr>
          <a:lstStyle/>
          <a:p>
            <a:pPr>
              <a:spcAft>
                <a:spcPts val="1200"/>
              </a:spcAft>
              <a:defRPr sz="1600" b="0">
                <a:solidFill>
                  <a:srgbClr val="F4F9FC"/>
                </a:solidFill>
                <a:latin typeface="Aptos"/>
              </a:defRPr>
            </a:pPr>
            <a:r>
              <a:rPr dirty="0"/>
              <a:t>Compare exercise HR with a reference</a:t>
            </a:r>
          </a:p>
        </p:txBody>
      </p:sp>
      <p:sp>
        <p:nvSpPr>
          <p:cNvPr id="9" name="Rounded Rectangle 8"/>
          <p:cNvSpPr/>
          <p:nvPr/>
        </p:nvSpPr>
        <p:spPr>
          <a:xfrm>
            <a:off x="822960" y="2295144"/>
            <a:ext cx="10515600" cy="804672"/>
          </a:xfrm>
          <a:prstGeom prst="roundRect">
            <a:avLst/>
          </a:prstGeom>
          <a:solidFill>
            <a:srgbClr val="182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24128" y="2459736"/>
            <a:ext cx="10149840" cy="393192"/>
          </a:xfrm>
          <a:prstGeom prst="rect">
            <a:avLst/>
          </a:prstGeom>
          <a:noFill/>
        </p:spPr>
        <p:txBody>
          <a:bodyPr wrap="square">
            <a:spAutoFit/>
          </a:bodyPr>
          <a:lstStyle/>
          <a:p>
            <a:pPr>
              <a:spcAft>
                <a:spcPts val="1200"/>
              </a:spcAft>
              <a:defRPr sz="1800" b="1">
                <a:solidFill>
                  <a:srgbClr val="30B1DC"/>
                </a:solidFill>
                <a:latin typeface="Aptos"/>
              </a:defRPr>
            </a:pPr>
            <a:r>
              <a:t>02  Motion robustness</a:t>
            </a:r>
          </a:p>
        </p:txBody>
      </p:sp>
      <p:sp>
        <p:nvSpPr>
          <p:cNvPr id="11" name="TextBox 10"/>
          <p:cNvSpPr txBox="1"/>
          <p:nvPr/>
        </p:nvSpPr>
        <p:spPr>
          <a:xfrm>
            <a:off x="1018032" y="2766060"/>
            <a:ext cx="10104120" cy="27432"/>
          </a:xfrm>
          <a:prstGeom prst="rect">
            <a:avLst/>
          </a:prstGeom>
          <a:noFill/>
        </p:spPr>
        <p:txBody>
          <a:bodyPr wrap="square">
            <a:spAutoFit/>
          </a:bodyPr>
          <a:lstStyle/>
          <a:p>
            <a:pPr>
              <a:spcAft>
                <a:spcPts val="1200"/>
              </a:spcAft>
              <a:defRPr sz="1600" b="0">
                <a:solidFill>
                  <a:srgbClr val="F4F9FC"/>
                </a:solidFill>
                <a:latin typeface="Aptos"/>
              </a:defRPr>
            </a:pPr>
            <a:r>
              <a:rPr dirty="0"/>
              <a:t>Identify artifacts and compare to baseline</a:t>
            </a:r>
          </a:p>
        </p:txBody>
      </p:sp>
      <p:sp>
        <p:nvSpPr>
          <p:cNvPr id="12" name="Rounded Rectangle 11"/>
          <p:cNvSpPr/>
          <p:nvPr/>
        </p:nvSpPr>
        <p:spPr>
          <a:xfrm>
            <a:off x="822960" y="3218688"/>
            <a:ext cx="10515600" cy="804672"/>
          </a:xfrm>
          <a:prstGeom prst="roundRect">
            <a:avLst/>
          </a:prstGeom>
          <a:solidFill>
            <a:srgbClr val="182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24128" y="3383280"/>
            <a:ext cx="10149840" cy="393192"/>
          </a:xfrm>
          <a:prstGeom prst="rect">
            <a:avLst/>
          </a:prstGeom>
          <a:noFill/>
        </p:spPr>
        <p:txBody>
          <a:bodyPr wrap="square">
            <a:spAutoFit/>
          </a:bodyPr>
          <a:lstStyle/>
          <a:p>
            <a:pPr>
              <a:spcAft>
                <a:spcPts val="1200"/>
              </a:spcAft>
              <a:defRPr sz="1800" b="1">
                <a:solidFill>
                  <a:srgbClr val="30B1DC"/>
                </a:solidFill>
                <a:latin typeface="Aptos"/>
              </a:defRPr>
            </a:pPr>
            <a:r>
              <a:t>03  Training history</a:t>
            </a:r>
          </a:p>
        </p:txBody>
      </p:sp>
      <p:sp>
        <p:nvSpPr>
          <p:cNvPr id="14" name="TextBox 13"/>
          <p:cNvSpPr txBox="1"/>
          <p:nvPr/>
        </p:nvSpPr>
        <p:spPr>
          <a:xfrm>
            <a:off x="1024128" y="3703320"/>
            <a:ext cx="10104120" cy="27432"/>
          </a:xfrm>
          <a:prstGeom prst="rect">
            <a:avLst/>
          </a:prstGeom>
          <a:noFill/>
        </p:spPr>
        <p:txBody>
          <a:bodyPr wrap="square">
            <a:spAutoFit/>
          </a:bodyPr>
          <a:lstStyle/>
          <a:p>
            <a:pPr>
              <a:spcAft>
                <a:spcPts val="1200"/>
              </a:spcAft>
              <a:defRPr sz="1600" b="0">
                <a:solidFill>
                  <a:srgbClr val="F4F9FC"/>
                </a:solidFill>
                <a:latin typeface="Aptos"/>
              </a:defRPr>
            </a:pPr>
            <a:r>
              <a:rPr dirty="0"/>
              <a:t>Save timestamped HR measurements</a:t>
            </a:r>
          </a:p>
        </p:txBody>
      </p:sp>
      <p:sp>
        <p:nvSpPr>
          <p:cNvPr id="15" name="Rounded Rectangle 14"/>
          <p:cNvSpPr/>
          <p:nvPr/>
        </p:nvSpPr>
        <p:spPr>
          <a:xfrm>
            <a:off x="822960" y="4142232"/>
            <a:ext cx="10515600" cy="804672"/>
          </a:xfrm>
          <a:prstGeom prst="roundRect">
            <a:avLst/>
          </a:prstGeom>
          <a:solidFill>
            <a:srgbClr val="182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24128" y="4306824"/>
            <a:ext cx="10149840" cy="393192"/>
          </a:xfrm>
          <a:prstGeom prst="rect">
            <a:avLst/>
          </a:prstGeom>
          <a:noFill/>
        </p:spPr>
        <p:txBody>
          <a:bodyPr wrap="square">
            <a:spAutoFit/>
          </a:bodyPr>
          <a:lstStyle/>
          <a:p>
            <a:pPr>
              <a:spcAft>
                <a:spcPts val="1200"/>
              </a:spcAft>
              <a:defRPr sz="1800" b="1">
                <a:solidFill>
                  <a:srgbClr val="30B1DC"/>
                </a:solidFill>
                <a:latin typeface="Aptos"/>
              </a:defRPr>
            </a:pPr>
            <a:r>
              <a:t>04  Wearable fit</a:t>
            </a:r>
          </a:p>
        </p:txBody>
      </p:sp>
      <p:sp>
        <p:nvSpPr>
          <p:cNvPr id="17" name="TextBox 16"/>
          <p:cNvSpPr txBox="1"/>
          <p:nvPr/>
        </p:nvSpPr>
        <p:spPr>
          <a:xfrm>
            <a:off x="1018032" y="4626864"/>
            <a:ext cx="10104120" cy="338554"/>
          </a:xfrm>
          <a:prstGeom prst="rect">
            <a:avLst/>
          </a:prstGeom>
          <a:noFill/>
        </p:spPr>
        <p:txBody>
          <a:bodyPr wrap="square">
            <a:spAutoFit/>
          </a:bodyPr>
          <a:lstStyle/>
          <a:p>
            <a:pPr>
              <a:spcAft>
                <a:spcPts val="1200"/>
              </a:spcAft>
              <a:defRPr sz="1600" b="0">
                <a:solidFill>
                  <a:srgbClr val="F4F9FC"/>
                </a:solidFill>
                <a:latin typeface="Aptos"/>
              </a:defRPr>
            </a:pPr>
            <a:r>
              <a:rPr dirty="0"/>
              <a:t>Record </a:t>
            </a:r>
            <a:r>
              <a:rPr lang="en-US" dirty="0"/>
              <a:t>data without being uncomfortable</a:t>
            </a:r>
            <a:endParaRPr dirty="0"/>
          </a:p>
        </p:txBody>
      </p:sp>
      <p:sp>
        <p:nvSpPr>
          <p:cNvPr id="18" name="Rounded Rectangle 17"/>
          <p:cNvSpPr/>
          <p:nvPr/>
        </p:nvSpPr>
        <p:spPr>
          <a:xfrm>
            <a:off x="822960" y="5065776"/>
            <a:ext cx="10515600" cy="804672"/>
          </a:xfrm>
          <a:prstGeom prst="roundRect">
            <a:avLst/>
          </a:prstGeom>
          <a:solidFill>
            <a:srgbClr val="182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24128" y="5230368"/>
            <a:ext cx="10149840" cy="393192"/>
          </a:xfrm>
          <a:prstGeom prst="rect">
            <a:avLst/>
          </a:prstGeom>
          <a:noFill/>
        </p:spPr>
        <p:txBody>
          <a:bodyPr wrap="square">
            <a:spAutoFit/>
          </a:bodyPr>
          <a:lstStyle/>
          <a:p>
            <a:pPr>
              <a:spcAft>
                <a:spcPts val="1200"/>
              </a:spcAft>
              <a:defRPr sz="1800" b="1">
                <a:solidFill>
                  <a:srgbClr val="30B1DC"/>
                </a:solidFill>
                <a:latin typeface="Aptos"/>
              </a:defRPr>
            </a:pPr>
            <a:r>
              <a:t>05  Battery life</a:t>
            </a:r>
          </a:p>
        </p:txBody>
      </p:sp>
      <p:sp>
        <p:nvSpPr>
          <p:cNvPr id="20" name="TextBox 19"/>
          <p:cNvSpPr txBox="1"/>
          <p:nvPr/>
        </p:nvSpPr>
        <p:spPr>
          <a:xfrm>
            <a:off x="1024128" y="5536692"/>
            <a:ext cx="10104120" cy="27432"/>
          </a:xfrm>
          <a:prstGeom prst="rect">
            <a:avLst/>
          </a:prstGeom>
          <a:noFill/>
        </p:spPr>
        <p:txBody>
          <a:bodyPr wrap="square">
            <a:spAutoFit/>
          </a:bodyPr>
          <a:lstStyle/>
          <a:p>
            <a:pPr>
              <a:spcAft>
                <a:spcPts val="1200"/>
              </a:spcAft>
              <a:defRPr sz="1600" b="0">
                <a:solidFill>
                  <a:srgbClr val="F4F9FC"/>
                </a:solidFill>
                <a:latin typeface="Aptos"/>
              </a:defRPr>
            </a:pPr>
            <a:r>
              <a:rPr dirty="0"/>
              <a:t>Estimate runtime from measured power</a:t>
            </a:r>
          </a:p>
        </p:txBody>
      </p:sp>
      <p:sp>
        <p:nvSpPr>
          <p:cNvPr id="21" name="TextBox 20"/>
          <p:cNvSpPr txBox="1"/>
          <p:nvPr/>
        </p:nvSpPr>
        <p:spPr>
          <a:xfrm>
            <a:off x="914400" y="6144768"/>
            <a:ext cx="10058400" cy="201168"/>
          </a:xfrm>
          <a:prstGeom prst="rect">
            <a:avLst/>
          </a:prstGeom>
          <a:noFill/>
        </p:spPr>
        <p:txBody>
          <a:bodyPr wrap="square">
            <a:spAutoFit/>
          </a:bodyPr>
          <a:lstStyle/>
          <a:p>
            <a:pPr>
              <a:spcAft>
                <a:spcPts val="1200"/>
              </a:spcAft>
              <a:defRPr sz="1200" b="0">
                <a:solidFill>
                  <a:srgbClr val="61DAAA"/>
                </a:solidFill>
                <a:latin typeface="Aptos"/>
              </a:defRPr>
            </a:pPr>
            <a:r>
              <a:t>Sprint 1 focus: dataset-based heart-rate processing and system feasibility.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C2F"/>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73152" cy="512064"/>
          </a:xfrm>
          <a:prstGeom prst="rect">
            <a:avLst/>
          </a:prstGeom>
          <a:solidFill>
            <a:srgbClr val="30B1D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553998"/>
          </a:xfrm>
          <a:prstGeom prst="rect">
            <a:avLst/>
          </a:prstGeom>
          <a:noFill/>
        </p:spPr>
        <p:txBody>
          <a:bodyPr wrap="square">
            <a:spAutoFit/>
          </a:bodyPr>
          <a:lstStyle/>
          <a:p>
            <a:pPr>
              <a:spcAft>
                <a:spcPts val="1200"/>
              </a:spcAft>
              <a:defRPr sz="3000" b="1">
                <a:solidFill>
                  <a:srgbClr val="F4F9FC"/>
                </a:solidFill>
                <a:latin typeface="Aptos"/>
              </a:defRPr>
            </a:pPr>
            <a:r>
              <a:rPr dirty="0"/>
              <a:t>Tools</a:t>
            </a:r>
            <a:r>
              <a:rPr lang="en-US" dirty="0"/>
              <a:t> and Reasoning</a:t>
            </a:r>
            <a:endParaRPr dirty="0"/>
          </a:p>
        </p:txBody>
      </p:sp>
      <p:sp>
        <p:nvSpPr>
          <p:cNvPr id="4" name="TextBox 3"/>
          <p:cNvSpPr txBox="1"/>
          <p:nvPr/>
        </p:nvSpPr>
        <p:spPr>
          <a:xfrm>
            <a:off x="685800" y="6473952"/>
            <a:ext cx="9144000" cy="182880"/>
          </a:xfrm>
          <a:prstGeom prst="rect">
            <a:avLst/>
          </a:prstGeom>
          <a:noFill/>
        </p:spPr>
        <p:txBody>
          <a:bodyPr wrap="square">
            <a:spAutoFit/>
          </a:bodyPr>
          <a:lstStyle/>
          <a:p>
            <a:pPr>
              <a:spcAft>
                <a:spcPts val="1200"/>
              </a:spcAft>
              <a:defRPr sz="1000" b="0">
                <a:solidFill>
                  <a:srgbClr val="ACC0CF"/>
                </a:solidFill>
                <a:latin typeface="Aptos"/>
              </a:defRPr>
            </a:pPr>
            <a:r>
              <a:t>MHRS  /  EC601  /  SPRINT 1</a:t>
            </a:r>
          </a:p>
        </p:txBody>
      </p:sp>
      <p:sp>
        <p:nvSpPr>
          <p:cNvPr id="5" name="TextBox 4"/>
          <p:cNvSpPr txBox="1"/>
          <p:nvPr/>
        </p:nvSpPr>
        <p:spPr>
          <a:xfrm>
            <a:off x="11155680" y="6446520"/>
            <a:ext cx="457200" cy="228600"/>
          </a:xfrm>
          <a:prstGeom prst="rect">
            <a:avLst/>
          </a:prstGeom>
          <a:noFill/>
        </p:spPr>
        <p:txBody>
          <a:bodyPr wrap="square">
            <a:spAutoFit/>
          </a:bodyPr>
          <a:lstStyle/>
          <a:p>
            <a:pPr>
              <a:spcAft>
                <a:spcPts val="1200"/>
              </a:spcAft>
              <a:defRPr sz="1100" b="0">
                <a:solidFill>
                  <a:srgbClr val="ACC0CF"/>
                </a:solidFill>
                <a:latin typeface="Aptos"/>
              </a:defRPr>
            </a:pPr>
            <a:r>
              <a:t>04</a:t>
            </a:r>
          </a:p>
        </p:txBody>
      </p:sp>
      <p:sp>
        <p:nvSpPr>
          <p:cNvPr id="6" name="Rounded Rectangle 5"/>
          <p:cNvSpPr/>
          <p:nvPr/>
        </p:nvSpPr>
        <p:spPr>
          <a:xfrm>
            <a:off x="822960" y="1417320"/>
            <a:ext cx="5166360" cy="1874519"/>
          </a:xfrm>
          <a:prstGeom prst="roundRect">
            <a:avLst/>
          </a:prstGeom>
          <a:solidFill>
            <a:srgbClr val="182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1581912"/>
            <a:ext cx="4800600" cy="393192"/>
          </a:xfrm>
          <a:prstGeom prst="rect">
            <a:avLst/>
          </a:prstGeom>
          <a:noFill/>
        </p:spPr>
        <p:txBody>
          <a:bodyPr wrap="square">
            <a:spAutoFit/>
          </a:bodyPr>
          <a:lstStyle/>
          <a:p>
            <a:pPr>
              <a:spcAft>
                <a:spcPts val="1200"/>
              </a:spcAft>
              <a:defRPr sz="1800" b="1">
                <a:solidFill>
                  <a:srgbClr val="30B1DC"/>
                </a:solidFill>
                <a:latin typeface="Aptos"/>
              </a:defRPr>
            </a:pPr>
            <a:r>
              <a:t>Python + NumPy / SciPy</a:t>
            </a:r>
          </a:p>
        </p:txBody>
      </p:sp>
      <p:sp>
        <p:nvSpPr>
          <p:cNvPr id="8" name="TextBox 7"/>
          <p:cNvSpPr txBox="1"/>
          <p:nvPr/>
        </p:nvSpPr>
        <p:spPr>
          <a:xfrm>
            <a:off x="1024128" y="2084832"/>
            <a:ext cx="4754880" cy="1097279"/>
          </a:xfrm>
          <a:prstGeom prst="rect">
            <a:avLst/>
          </a:prstGeom>
          <a:noFill/>
        </p:spPr>
        <p:txBody>
          <a:bodyPr wrap="square">
            <a:spAutoFit/>
          </a:bodyPr>
          <a:lstStyle/>
          <a:p>
            <a:pPr>
              <a:spcAft>
                <a:spcPts val="1200"/>
              </a:spcAft>
              <a:defRPr sz="1900" b="0">
                <a:solidFill>
                  <a:srgbClr val="F4F9FC"/>
                </a:solidFill>
                <a:latin typeface="Aptos"/>
              </a:defRPr>
            </a:pPr>
            <a:r>
              <a:t>Load PPG-DaLiA and filter/estimate HR</a:t>
            </a:r>
          </a:p>
        </p:txBody>
      </p:sp>
      <p:sp>
        <p:nvSpPr>
          <p:cNvPr id="9" name="Rounded Rectangle 8"/>
          <p:cNvSpPr/>
          <p:nvPr/>
        </p:nvSpPr>
        <p:spPr>
          <a:xfrm>
            <a:off x="6309360" y="1417320"/>
            <a:ext cx="5166360" cy="1874519"/>
          </a:xfrm>
          <a:prstGeom prst="roundRect">
            <a:avLst/>
          </a:prstGeom>
          <a:solidFill>
            <a:srgbClr val="182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10528" y="1581912"/>
            <a:ext cx="4800600" cy="393192"/>
          </a:xfrm>
          <a:prstGeom prst="rect">
            <a:avLst/>
          </a:prstGeom>
          <a:noFill/>
        </p:spPr>
        <p:txBody>
          <a:bodyPr wrap="square">
            <a:spAutoFit/>
          </a:bodyPr>
          <a:lstStyle/>
          <a:p>
            <a:pPr>
              <a:spcAft>
                <a:spcPts val="1200"/>
              </a:spcAft>
              <a:defRPr sz="1800" b="1">
                <a:solidFill>
                  <a:srgbClr val="30B1DC"/>
                </a:solidFill>
                <a:latin typeface="Aptos"/>
              </a:defRPr>
            </a:pPr>
            <a:r>
              <a:t>Pandas + Matplotlib</a:t>
            </a:r>
          </a:p>
        </p:txBody>
      </p:sp>
      <p:sp>
        <p:nvSpPr>
          <p:cNvPr id="11" name="TextBox 10"/>
          <p:cNvSpPr txBox="1"/>
          <p:nvPr/>
        </p:nvSpPr>
        <p:spPr>
          <a:xfrm>
            <a:off x="6510528" y="2084832"/>
            <a:ext cx="4754880" cy="1097279"/>
          </a:xfrm>
          <a:prstGeom prst="rect">
            <a:avLst/>
          </a:prstGeom>
          <a:noFill/>
        </p:spPr>
        <p:txBody>
          <a:bodyPr wrap="square">
            <a:spAutoFit/>
          </a:bodyPr>
          <a:lstStyle/>
          <a:p>
            <a:pPr>
              <a:spcAft>
                <a:spcPts val="1200"/>
              </a:spcAft>
              <a:defRPr sz="1900" b="0">
                <a:solidFill>
                  <a:srgbClr val="F4F9FC"/>
                </a:solidFill>
                <a:latin typeface="Aptos"/>
              </a:defRPr>
            </a:pPr>
            <a:r>
              <a:t>Smooth estimates and visualize errors</a:t>
            </a:r>
          </a:p>
        </p:txBody>
      </p:sp>
      <p:sp>
        <p:nvSpPr>
          <p:cNvPr id="12" name="Rounded Rectangle 11"/>
          <p:cNvSpPr/>
          <p:nvPr/>
        </p:nvSpPr>
        <p:spPr>
          <a:xfrm>
            <a:off x="822960" y="3566160"/>
            <a:ext cx="5166360" cy="1874519"/>
          </a:xfrm>
          <a:prstGeom prst="roundRect">
            <a:avLst/>
          </a:prstGeom>
          <a:solidFill>
            <a:srgbClr val="182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24128" y="3730752"/>
            <a:ext cx="4800600" cy="393192"/>
          </a:xfrm>
          <a:prstGeom prst="rect">
            <a:avLst/>
          </a:prstGeom>
          <a:noFill/>
        </p:spPr>
        <p:txBody>
          <a:bodyPr wrap="square">
            <a:spAutoFit/>
          </a:bodyPr>
          <a:lstStyle/>
          <a:p>
            <a:pPr>
              <a:spcAft>
                <a:spcPts val="1200"/>
              </a:spcAft>
              <a:defRPr sz="1800" b="1">
                <a:solidFill>
                  <a:srgbClr val="30B1DC"/>
                </a:solidFill>
                <a:latin typeface="Aptos"/>
              </a:defRPr>
            </a:pPr>
            <a:r>
              <a:t>GitHub + Projects</a:t>
            </a:r>
          </a:p>
        </p:txBody>
      </p:sp>
      <p:sp>
        <p:nvSpPr>
          <p:cNvPr id="14" name="TextBox 13"/>
          <p:cNvSpPr txBox="1"/>
          <p:nvPr/>
        </p:nvSpPr>
        <p:spPr>
          <a:xfrm>
            <a:off x="1024128" y="4233672"/>
            <a:ext cx="4754880" cy="1097279"/>
          </a:xfrm>
          <a:prstGeom prst="rect">
            <a:avLst/>
          </a:prstGeom>
          <a:noFill/>
        </p:spPr>
        <p:txBody>
          <a:bodyPr wrap="square">
            <a:spAutoFit/>
          </a:bodyPr>
          <a:lstStyle/>
          <a:p>
            <a:pPr>
              <a:spcAft>
                <a:spcPts val="1200"/>
              </a:spcAft>
              <a:defRPr sz="1900" b="0">
                <a:solidFill>
                  <a:srgbClr val="F4F9FC"/>
                </a:solidFill>
                <a:latin typeface="Aptos"/>
              </a:defRPr>
            </a:pPr>
            <a:r>
              <a:t>Track work, review changes, document results</a:t>
            </a:r>
          </a:p>
        </p:txBody>
      </p:sp>
      <p:sp>
        <p:nvSpPr>
          <p:cNvPr id="15" name="Rounded Rectangle 14"/>
          <p:cNvSpPr/>
          <p:nvPr/>
        </p:nvSpPr>
        <p:spPr>
          <a:xfrm>
            <a:off x="6309360" y="3566160"/>
            <a:ext cx="5166360" cy="1874519"/>
          </a:xfrm>
          <a:prstGeom prst="roundRect">
            <a:avLst/>
          </a:prstGeom>
          <a:solidFill>
            <a:srgbClr val="182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10528" y="3730752"/>
            <a:ext cx="4800600" cy="393192"/>
          </a:xfrm>
          <a:prstGeom prst="rect">
            <a:avLst/>
          </a:prstGeom>
          <a:noFill/>
        </p:spPr>
        <p:txBody>
          <a:bodyPr wrap="square">
            <a:spAutoFit/>
          </a:bodyPr>
          <a:lstStyle/>
          <a:p>
            <a:pPr>
              <a:spcAft>
                <a:spcPts val="1200"/>
              </a:spcAft>
              <a:defRPr sz="1800" b="1">
                <a:solidFill>
                  <a:srgbClr val="30B1DC"/>
                </a:solidFill>
                <a:latin typeface="Aptos"/>
              </a:defRPr>
            </a:pPr>
            <a:r>
              <a:t>PPG + MCU + IMU</a:t>
            </a:r>
          </a:p>
        </p:txBody>
      </p:sp>
      <p:sp>
        <p:nvSpPr>
          <p:cNvPr id="17" name="TextBox 16"/>
          <p:cNvSpPr txBox="1"/>
          <p:nvPr/>
        </p:nvSpPr>
        <p:spPr>
          <a:xfrm>
            <a:off x="6510528" y="4233672"/>
            <a:ext cx="4754880" cy="1097279"/>
          </a:xfrm>
          <a:prstGeom prst="rect">
            <a:avLst/>
          </a:prstGeom>
          <a:noFill/>
        </p:spPr>
        <p:txBody>
          <a:bodyPr wrap="square">
            <a:spAutoFit/>
          </a:bodyPr>
          <a:lstStyle/>
          <a:p>
            <a:pPr>
              <a:spcAft>
                <a:spcPts val="1200"/>
              </a:spcAft>
              <a:defRPr sz="1900" b="0">
                <a:solidFill>
                  <a:srgbClr val="F4F9FC"/>
                </a:solidFill>
                <a:latin typeface="Aptos"/>
              </a:defRPr>
            </a:pPr>
            <a:r>
              <a:t>Planned hardware for synchronized optical/motion acquisition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E1C2F"/>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73152" cy="512064"/>
          </a:xfrm>
          <a:prstGeom prst="rect">
            <a:avLst/>
          </a:prstGeom>
          <a:solidFill>
            <a:srgbClr val="30B1D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553998"/>
          </a:xfrm>
          <a:prstGeom prst="rect">
            <a:avLst/>
          </a:prstGeom>
          <a:noFill/>
        </p:spPr>
        <p:txBody>
          <a:bodyPr wrap="square">
            <a:spAutoFit/>
          </a:bodyPr>
          <a:lstStyle/>
          <a:p>
            <a:pPr>
              <a:spcAft>
                <a:spcPts val="1200"/>
              </a:spcAft>
              <a:defRPr sz="3000" b="1">
                <a:solidFill>
                  <a:srgbClr val="F4F9FC"/>
                </a:solidFill>
                <a:latin typeface="Aptos"/>
              </a:defRPr>
            </a:pPr>
            <a:r>
              <a:rPr dirty="0"/>
              <a:t>Progres</a:t>
            </a:r>
            <a:r>
              <a:rPr lang="en-US" dirty="0"/>
              <a:t>s</a:t>
            </a:r>
            <a:endParaRPr dirty="0"/>
          </a:p>
        </p:txBody>
      </p:sp>
      <p:sp>
        <p:nvSpPr>
          <p:cNvPr id="4" name="TextBox 3"/>
          <p:cNvSpPr txBox="1"/>
          <p:nvPr/>
        </p:nvSpPr>
        <p:spPr>
          <a:xfrm>
            <a:off x="685800" y="6473952"/>
            <a:ext cx="9144000" cy="182880"/>
          </a:xfrm>
          <a:prstGeom prst="rect">
            <a:avLst/>
          </a:prstGeom>
          <a:noFill/>
        </p:spPr>
        <p:txBody>
          <a:bodyPr wrap="square">
            <a:spAutoFit/>
          </a:bodyPr>
          <a:lstStyle/>
          <a:p>
            <a:pPr>
              <a:spcAft>
                <a:spcPts val="1200"/>
              </a:spcAft>
              <a:defRPr sz="1000" b="0">
                <a:solidFill>
                  <a:srgbClr val="ACC0CF"/>
                </a:solidFill>
                <a:latin typeface="Aptos"/>
              </a:defRPr>
            </a:pPr>
            <a:r>
              <a:t>MHRS  /  EC601  /  SPRINT 1</a:t>
            </a:r>
          </a:p>
        </p:txBody>
      </p:sp>
      <p:sp>
        <p:nvSpPr>
          <p:cNvPr id="5" name="TextBox 4"/>
          <p:cNvSpPr txBox="1"/>
          <p:nvPr/>
        </p:nvSpPr>
        <p:spPr>
          <a:xfrm>
            <a:off x="11155680" y="6446520"/>
            <a:ext cx="457200" cy="228600"/>
          </a:xfrm>
          <a:prstGeom prst="rect">
            <a:avLst/>
          </a:prstGeom>
          <a:noFill/>
        </p:spPr>
        <p:txBody>
          <a:bodyPr wrap="square">
            <a:spAutoFit/>
          </a:bodyPr>
          <a:lstStyle/>
          <a:p>
            <a:pPr>
              <a:spcAft>
                <a:spcPts val="1200"/>
              </a:spcAft>
              <a:defRPr sz="1100" b="0">
                <a:solidFill>
                  <a:srgbClr val="ACC0CF"/>
                </a:solidFill>
                <a:latin typeface="Aptos"/>
              </a:defRPr>
            </a:pPr>
            <a:r>
              <a:t>05</a:t>
            </a:r>
          </a:p>
        </p:txBody>
      </p:sp>
      <p:pic>
        <p:nvPicPr>
          <p:cNvPr id="6" name="Picture 5" descr="ppg_analysis_output.png"/>
          <p:cNvPicPr>
            <a:picLocks noChangeAspect="1"/>
          </p:cNvPicPr>
          <p:nvPr/>
        </p:nvPicPr>
        <p:blipFill>
          <a:blip r:embed="rId3"/>
          <a:stretch>
            <a:fillRect/>
          </a:stretch>
        </p:blipFill>
        <p:spPr>
          <a:xfrm>
            <a:off x="594360" y="1234440"/>
            <a:ext cx="7543800" cy="4800600"/>
          </a:xfrm>
          <a:prstGeom prst="rect">
            <a:avLst/>
          </a:prstGeom>
        </p:spPr>
      </p:pic>
      <p:sp>
        <p:nvSpPr>
          <p:cNvPr id="7" name="Rounded Rectangle 6"/>
          <p:cNvSpPr/>
          <p:nvPr/>
        </p:nvSpPr>
        <p:spPr>
          <a:xfrm>
            <a:off x="8366760" y="1325880"/>
            <a:ext cx="3154680" cy="1261872"/>
          </a:xfrm>
          <a:prstGeom prst="roundRect">
            <a:avLst/>
          </a:prstGeom>
          <a:solidFill>
            <a:srgbClr val="182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67928" y="1490472"/>
            <a:ext cx="2788920" cy="393192"/>
          </a:xfrm>
          <a:prstGeom prst="rect">
            <a:avLst/>
          </a:prstGeom>
          <a:noFill/>
        </p:spPr>
        <p:txBody>
          <a:bodyPr wrap="square">
            <a:spAutoFit/>
          </a:bodyPr>
          <a:lstStyle/>
          <a:p>
            <a:pPr>
              <a:spcAft>
                <a:spcPts val="1200"/>
              </a:spcAft>
              <a:defRPr sz="1800" b="1">
                <a:solidFill>
                  <a:srgbClr val="30B1DC"/>
                </a:solidFill>
                <a:latin typeface="Aptos"/>
              </a:defRPr>
            </a:pPr>
            <a:r>
              <a:t>BEFORE</a:t>
            </a:r>
          </a:p>
        </p:txBody>
      </p:sp>
      <p:sp>
        <p:nvSpPr>
          <p:cNvPr id="9" name="TextBox 8"/>
          <p:cNvSpPr txBox="1"/>
          <p:nvPr/>
        </p:nvSpPr>
        <p:spPr>
          <a:xfrm>
            <a:off x="8567928" y="1993391"/>
            <a:ext cx="2743200" cy="484631"/>
          </a:xfrm>
          <a:prstGeom prst="rect">
            <a:avLst/>
          </a:prstGeom>
          <a:noFill/>
        </p:spPr>
        <p:txBody>
          <a:bodyPr wrap="square">
            <a:spAutoFit/>
          </a:bodyPr>
          <a:lstStyle/>
          <a:p>
            <a:pPr>
              <a:spcAft>
                <a:spcPts val="1200"/>
              </a:spcAft>
              <a:defRPr sz="2300" b="0">
                <a:solidFill>
                  <a:srgbClr val="F4F9FC"/>
                </a:solidFill>
                <a:latin typeface="Aptos"/>
              </a:defRPr>
            </a:pPr>
            <a:r>
              <a:t>11.0 BPM MAE</a:t>
            </a:r>
          </a:p>
        </p:txBody>
      </p:sp>
      <p:sp>
        <p:nvSpPr>
          <p:cNvPr id="10" name="Rounded Rectangle 9"/>
          <p:cNvSpPr/>
          <p:nvPr/>
        </p:nvSpPr>
        <p:spPr>
          <a:xfrm>
            <a:off x="8366760" y="2743200"/>
            <a:ext cx="3154680" cy="1261872"/>
          </a:xfrm>
          <a:prstGeom prst="roundRect">
            <a:avLst/>
          </a:prstGeom>
          <a:solidFill>
            <a:srgbClr val="182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67928" y="2907792"/>
            <a:ext cx="2788920" cy="393192"/>
          </a:xfrm>
          <a:prstGeom prst="rect">
            <a:avLst/>
          </a:prstGeom>
          <a:noFill/>
        </p:spPr>
        <p:txBody>
          <a:bodyPr wrap="square">
            <a:spAutoFit/>
          </a:bodyPr>
          <a:lstStyle/>
          <a:p>
            <a:pPr>
              <a:spcAft>
                <a:spcPts val="1200"/>
              </a:spcAft>
              <a:defRPr sz="1800" b="1">
                <a:solidFill>
                  <a:srgbClr val="30B1DC"/>
                </a:solidFill>
                <a:latin typeface="Aptos"/>
              </a:defRPr>
            </a:pPr>
            <a:r>
              <a:t>AFTER</a:t>
            </a:r>
          </a:p>
        </p:txBody>
      </p:sp>
      <p:sp>
        <p:nvSpPr>
          <p:cNvPr id="12" name="TextBox 11"/>
          <p:cNvSpPr txBox="1"/>
          <p:nvPr/>
        </p:nvSpPr>
        <p:spPr>
          <a:xfrm>
            <a:off x="8567928" y="3410712"/>
            <a:ext cx="2743200" cy="484631"/>
          </a:xfrm>
          <a:prstGeom prst="rect">
            <a:avLst/>
          </a:prstGeom>
          <a:noFill/>
        </p:spPr>
        <p:txBody>
          <a:bodyPr wrap="square">
            <a:spAutoFit/>
          </a:bodyPr>
          <a:lstStyle/>
          <a:p>
            <a:pPr>
              <a:spcAft>
                <a:spcPts val="1200"/>
              </a:spcAft>
              <a:defRPr sz="2300" b="0">
                <a:solidFill>
                  <a:srgbClr val="F4F9FC"/>
                </a:solidFill>
                <a:latin typeface="Aptos"/>
              </a:defRPr>
            </a:pPr>
            <a:r>
              <a:t>7.2 BPM MAE</a:t>
            </a:r>
          </a:p>
        </p:txBody>
      </p:sp>
      <p:sp>
        <p:nvSpPr>
          <p:cNvPr id="13" name="TextBox 12"/>
          <p:cNvSpPr txBox="1"/>
          <p:nvPr/>
        </p:nvSpPr>
        <p:spPr>
          <a:xfrm>
            <a:off x="8458200" y="4389120"/>
            <a:ext cx="2880360" cy="1188720"/>
          </a:xfrm>
          <a:prstGeom prst="rect">
            <a:avLst/>
          </a:prstGeom>
          <a:noFill/>
        </p:spPr>
        <p:txBody>
          <a:bodyPr wrap="square">
            <a:spAutoFit/>
          </a:bodyPr>
          <a:lstStyle/>
          <a:p>
            <a:pPr>
              <a:spcAft>
                <a:spcPts val="1200"/>
              </a:spcAft>
              <a:defRPr sz="1900" b="1">
                <a:solidFill>
                  <a:srgbClr val="61DAAA"/>
                </a:solidFill>
                <a:latin typeface="Aptos"/>
              </a:defRPr>
            </a:pPr>
            <a:r>
              <a:t>~35% lower MAE</a:t>
            </a:r>
          </a:p>
          <a:p>
            <a:pPr>
              <a:spcAft>
                <a:spcPts val="1200"/>
              </a:spcAft>
              <a:defRPr sz="1900" b="1">
                <a:solidFill>
                  <a:srgbClr val="61DAAA"/>
                </a:solidFill>
                <a:latin typeface="Aptos"/>
              </a:defRPr>
            </a:pPr>
            <a:r>
              <a:t>S1 only • offline smoothing</a:t>
            </a:r>
          </a:p>
        </p:txBody>
      </p:sp>
      <p:sp>
        <p:nvSpPr>
          <p:cNvPr id="14" name="TextBox 13"/>
          <p:cNvSpPr txBox="1"/>
          <p:nvPr/>
        </p:nvSpPr>
        <p:spPr>
          <a:xfrm>
            <a:off x="685800" y="6108192"/>
            <a:ext cx="10789920" cy="228600"/>
          </a:xfrm>
          <a:prstGeom prst="rect">
            <a:avLst/>
          </a:prstGeom>
          <a:noFill/>
        </p:spPr>
        <p:txBody>
          <a:bodyPr wrap="square">
            <a:spAutoFit/>
          </a:bodyPr>
          <a:lstStyle/>
          <a:p>
            <a:pPr>
              <a:spcAft>
                <a:spcPts val="1200"/>
              </a:spcAft>
              <a:defRPr sz="1200" b="0">
                <a:solidFill>
                  <a:srgbClr val="ACC0CF"/>
                </a:solidFill>
                <a:latin typeface="Aptos"/>
              </a:defRPr>
            </a:pPr>
            <a:r>
              <a:t>PPG-DaLiA subject S1  |  wrist PPG vs chest ECG  |  output committed in repository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E1C2F"/>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73152" cy="512064"/>
          </a:xfrm>
          <a:prstGeom prst="rect">
            <a:avLst/>
          </a:prstGeom>
          <a:solidFill>
            <a:srgbClr val="30B1D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553998"/>
          </a:xfrm>
          <a:prstGeom prst="rect">
            <a:avLst/>
          </a:prstGeom>
          <a:noFill/>
        </p:spPr>
        <p:txBody>
          <a:bodyPr wrap="square">
            <a:spAutoFit/>
          </a:bodyPr>
          <a:lstStyle/>
          <a:p>
            <a:pPr>
              <a:spcAft>
                <a:spcPts val="1200"/>
              </a:spcAft>
              <a:defRPr sz="3000" b="1">
                <a:solidFill>
                  <a:srgbClr val="F4F9FC"/>
                </a:solidFill>
                <a:latin typeface="Aptos"/>
              </a:defRPr>
            </a:pPr>
            <a:r>
              <a:rPr dirty="0"/>
              <a:t>What we learned</a:t>
            </a:r>
          </a:p>
        </p:txBody>
      </p:sp>
      <p:sp>
        <p:nvSpPr>
          <p:cNvPr id="4" name="TextBox 3"/>
          <p:cNvSpPr txBox="1"/>
          <p:nvPr/>
        </p:nvSpPr>
        <p:spPr>
          <a:xfrm>
            <a:off x="685800" y="6473952"/>
            <a:ext cx="9144000" cy="182880"/>
          </a:xfrm>
          <a:prstGeom prst="rect">
            <a:avLst/>
          </a:prstGeom>
          <a:noFill/>
        </p:spPr>
        <p:txBody>
          <a:bodyPr wrap="square">
            <a:spAutoFit/>
          </a:bodyPr>
          <a:lstStyle/>
          <a:p>
            <a:pPr>
              <a:spcAft>
                <a:spcPts val="1200"/>
              </a:spcAft>
              <a:defRPr sz="1000" b="0">
                <a:solidFill>
                  <a:srgbClr val="ACC0CF"/>
                </a:solidFill>
                <a:latin typeface="Aptos"/>
              </a:defRPr>
            </a:pPr>
            <a:r>
              <a:t>MHRS  /  EC601  /  SPRINT 1</a:t>
            </a:r>
          </a:p>
        </p:txBody>
      </p:sp>
      <p:sp>
        <p:nvSpPr>
          <p:cNvPr id="5" name="TextBox 4"/>
          <p:cNvSpPr txBox="1"/>
          <p:nvPr/>
        </p:nvSpPr>
        <p:spPr>
          <a:xfrm>
            <a:off x="11155680" y="6446520"/>
            <a:ext cx="457200" cy="228600"/>
          </a:xfrm>
          <a:prstGeom prst="rect">
            <a:avLst/>
          </a:prstGeom>
          <a:noFill/>
        </p:spPr>
        <p:txBody>
          <a:bodyPr wrap="square">
            <a:spAutoFit/>
          </a:bodyPr>
          <a:lstStyle/>
          <a:p>
            <a:pPr>
              <a:spcAft>
                <a:spcPts val="1200"/>
              </a:spcAft>
              <a:defRPr sz="1100" b="0">
                <a:solidFill>
                  <a:srgbClr val="ACC0CF"/>
                </a:solidFill>
                <a:latin typeface="Aptos"/>
              </a:defRPr>
            </a:pPr>
            <a:r>
              <a:t>06</a:t>
            </a:r>
          </a:p>
        </p:txBody>
      </p:sp>
      <p:sp>
        <p:nvSpPr>
          <p:cNvPr id="6" name="Rounded Rectangle 5"/>
          <p:cNvSpPr/>
          <p:nvPr/>
        </p:nvSpPr>
        <p:spPr>
          <a:xfrm>
            <a:off x="822960" y="1371600"/>
            <a:ext cx="5166360" cy="3429000"/>
          </a:xfrm>
          <a:prstGeom prst="roundRect">
            <a:avLst/>
          </a:prstGeom>
          <a:solidFill>
            <a:srgbClr val="182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1536192"/>
            <a:ext cx="4800600" cy="393192"/>
          </a:xfrm>
          <a:prstGeom prst="rect">
            <a:avLst/>
          </a:prstGeom>
          <a:noFill/>
        </p:spPr>
        <p:txBody>
          <a:bodyPr wrap="square">
            <a:spAutoFit/>
          </a:bodyPr>
          <a:lstStyle/>
          <a:p>
            <a:pPr>
              <a:spcAft>
                <a:spcPts val="1200"/>
              </a:spcAft>
              <a:defRPr sz="1800" b="1">
                <a:solidFill>
                  <a:srgbClr val="30B1DC"/>
                </a:solidFill>
                <a:latin typeface="Aptos"/>
              </a:defRPr>
            </a:pPr>
            <a:r>
              <a:t>DATA LESSON</a:t>
            </a:r>
          </a:p>
        </p:txBody>
      </p:sp>
      <p:sp>
        <p:nvSpPr>
          <p:cNvPr id="8" name="TextBox 7"/>
          <p:cNvSpPr txBox="1"/>
          <p:nvPr/>
        </p:nvSpPr>
        <p:spPr>
          <a:xfrm>
            <a:off x="1024128" y="2039112"/>
            <a:ext cx="4754880" cy="2651760"/>
          </a:xfrm>
          <a:prstGeom prst="rect">
            <a:avLst/>
          </a:prstGeom>
          <a:noFill/>
        </p:spPr>
        <p:txBody>
          <a:bodyPr wrap="square">
            <a:spAutoFit/>
          </a:bodyPr>
          <a:lstStyle/>
          <a:p>
            <a:pPr>
              <a:spcAft>
                <a:spcPts val="1200"/>
              </a:spcAft>
              <a:defRPr sz="2200" b="0">
                <a:solidFill>
                  <a:srgbClr val="F4F9FC"/>
                </a:solidFill>
                <a:latin typeface="Aptos"/>
              </a:defRPr>
            </a:pPr>
            <a:r>
              <a:t>ECG labels arrive every 2 seconds, but each represents an 8-second window. Correct alignment matters.</a:t>
            </a:r>
          </a:p>
        </p:txBody>
      </p:sp>
      <p:sp>
        <p:nvSpPr>
          <p:cNvPr id="9" name="Rounded Rectangle 8"/>
          <p:cNvSpPr/>
          <p:nvPr/>
        </p:nvSpPr>
        <p:spPr>
          <a:xfrm>
            <a:off x="6199632" y="1371600"/>
            <a:ext cx="5166360" cy="3429000"/>
          </a:xfrm>
          <a:prstGeom prst="roundRect">
            <a:avLst/>
          </a:prstGeom>
          <a:solidFill>
            <a:srgbClr val="182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536192"/>
            <a:ext cx="4800600" cy="393192"/>
          </a:xfrm>
          <a:prstGeom prst="rect">
            <a:avLst/>
          </a:prstGeom>
          <a:noFill/>
        </p:spPr>
        <p:txBody>
          <a:bodyPr wrap="square">
            <a:spAutoFit/>
          </a:bodyPr>
          <a:lstStyle/>
          <a:p>
            <a:pPr>
              <a:spcAft>
                <a:spcPts val="1200"/>
              </a:spcAft>
              <a:defRPr sz="1800" b="1">
                <a:solidFill>
                  <a:srgbClr val="30B1DC"/>
                </a:solidFill>
                <a:latin typeface="Aptos"/>
              </a:defRPr>
            </a:pPr>
            <a:r>
              <a:t>DESIGN LESSON</a:t>
            </a:r>
          </a:p>
        </p:txBody>
      </p:sp>
      <p:sp>
        <p:nvSpPr>
          <p:cNvPr id="11" name="TextBox 10"/>
          <p:cNvSpPr txBox="1"/>
          <p:nvPr/>
        </p:nvSpPr>
        <p:spPr>
          <a:xfrm>
            <a:off x="6400800" y="2039112"/>
            <a:ext cx="4754880" cy="2651760"/>
          </a:xfrm>
          <a:prstGeom prst="rect">
            <a:avLst/>
          </a:prstGeom>
          <a:noFill/>
        </p:spPr>
        <p:txBody>
          <a:bodyPr wrap="square">
            <a:spAutoFit/>
          </a:bodyPr>
          <a:lstStyle/>
          <a:p>
            <a:pPr>
              <a:spcAft>
                <a:spcPts val="1200"/>
              </a:spcAft>
              <a:defRPr sz="2100" b="0">
                <a:solidFill>
                  <a:srgbClr val="F4F9FC"/>
                </a:solidFill>
                <a:latin typeface="Aptos"/>
              </a:defRPr>
            </a:pPr>
            <a:r>
              <a:t>Offline smoothing removes isolated spikes, but sustained motion can still mislead the estimator.</a:t>
            </a:r>
          </a:p>
        </p:txBody>
      </p:sp>
      <p:sp>
        <p:nvSpPr>
          <p:cNvPr id="12" name="TextBox 11"/>
          <p:cNvSpPr txBox="1"/>
          <p:nvPr/>
        </p:nvSpPr>
        <p:spPr>
          <a:xfrm>
            <a:off x="914400" y="5257800"/>
            <a:ext cx="10515600" cy="685800"/>
          </a:xfrm>
          <a:prstGeom prst="rect">
            <a:avLst/>
          </a:prstGeom>
          <a:noFill/>
        </p:spPr>
        <p:txBody>
          <a:bodyPr wrap="square">
            <a:spAutoFit/>
          </a:bodyPr>
          <a:lstStyle/>
          <a:p>
            <a:pPr>
              <a:spcAft>
                <a:spcPts val="1200"/>
              </a:spcAft>
              <a:defRPr sz="1900" b="1">
                <a:solidFill>
                  <a:srgbClr val="61DAAA"/>
                </a:solidFill>
                <a:latin typeface="Aptos"/>
              </a:defRPr>
            </a:pPr>
            <a:r>
              <a:t>Scope decision: prioritize wearable geometry + IMU-based filtering; defer custom optics.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E1C2F"/>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73152" cy="512064"/>
          </a:xfrm>
          <a:prstGeom prst="rect">
            <a:avLst/>
          </a:prstGeom>
          <a:solidFill>
            <a:srgbClr val="30B1D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553998"/>
          </a:xfrm>
          <a:prstGeom prst="rect">
            <a:avLst/>
          </a:prstGeom>
          <a:noFill/>
        </p:spPr>
        <p:txBody>
          <a:bodyPr wrap="square">
            <a:spAutoFit/>
          </a:bodyPr>
          <a:lstStyle/>
          <a:p>
            <a:pPr>
              <a:spcAft>
                <a:spcPts val="1200"/>
              </a:spcAft>
              <a:defRPr sz="3000" b="1">
                <a:solidFill>
                  <a:srgbClr val="F4F9FC"/>
                </a:solidFill>
                <a:latin typeface="Aptos"/>
              </a:defRPr>
            </a:pPr>
            <a:r>
              <a:rPr dirty="0"/>
              <a:t>Sprint </a:t>
            </a:r>
            <a:r>
              <a:rPr lang="en-US" dirty="0"/>
              <a:t>2 and Next Steps</a:t>
            </a:r>
            <a:endParaRPr dirty="0"/>
          </a:p>
        </p:txBody>
      </p:sp>
      <p:sp>
        <p:nvSpPr>
          <p:cNvPr id="4" name="TextBox 3"/>
          <p:cNvSpPr txBox="1"/>
          <p:nvPr/>
        </p:nvSpPr>
        <p:spPr>
          <a:xfrm>
            <a:off x="685800" y="6473952"/>
            <a:ext cx="9144000" cy="182880"/>
          </a:xfrm>
          <a:prstGeom prst="rect">
            <a:avLst/>
          </a:prstGeom>
          <a:noFill/>
        </p:spPr>
        <p:txBody>
          <a:bodyPr wrap="square">
            <a:spAutoFit/>
          </a:bodyPr>
          <a:lstStyle/>
          <a:p>
            <a:pPr>
              <a:spcAft>
                <a:spcPts val="1200"/>
              </a:spcAft>
              <a:defRPr sz="1000" b="0">
                <a:solidFill>
                  <a:srgbClr val="ACC0CF"/>
                </a:solidFill>
                <a:latin typeface="Aptos"/>
              </a:defRPr>
            </a:pPr>
            <a:r>
              <a:t>MHRS  /  EC601  /  SPRINT 1</a:t>
            </a:r>
          </a:p>
        </p:txBody>
      </p:sp>
      <p:sp>
        <p:nvSpPr>
          <p:cNvPr id="5" name="TextBox 4"/>
          <p:cNvSpPr txBox="1"/>
          <p:nvPr/>
        </p:nvSpPr>
        <p:spPr>
          <a:xfrm>
            <a:off x="11155680" y="6446520"/>
            <a:ext cx="457200" cy="228600"/>
          </a:xfrm>
          <a:prstGeom prst="rect">
            <a:avLst/>
          </a:prstGeom>
          <a:noFill/>
        </p:spPr>
        <p:txBody>
          <a:bodyPr wrap="square">
            <a:spAutoFit/>
          </a:bodyPr>
          <a:lstStyle/>
          <a:p>
            <a:pPr>
              <a:spcAft>
                <a:spcPts val="1200"/>
              </a:spcAft>
              <a:defRPr sz="1100" b="0">
                <a:solidFill>
                  <a:srgbClr val="ACC0CF"/>
                </a:solidFill>
                <a:latin typeface="Aptos"/>
              </a:defRPr>
            </a:pPr>
            <a:r>
              <a:t>07</a:t>
            </a:r>
          </a:p>
        </p:txBody>
      </p:sp>
      <p:sp>
        <p:nvSpPr>
          <p:cNvPr id="6" name="Rounded Rectangle 5"/>
          <p:cNvSpPr/>
          <p:nvPr/>
        </p:nvSpPr>
        <p:spPr>
          <a:xfrm>
            <a:off x="777240" y="1371600"/>
            <a:ext cx="6675120" cy="3474720"/>
          </a:xfrm>
          <a:prstGeom prst="roundRect">
            <a:avLst/>
          </a:prstGeom>
          <a:solidFill>
            <a:srgbClr val="182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78408" y="1536192"/>
            <a:ext cx="6309359" cy="393192"/>
          </a:xfrm>
          <a:prstGeom prst="rect">
            <a:avLst/>
          </a:prstGeom>
          <a:noFill/>
        </p:spPr>
        <p:txBody>
          <a:bodyPr wrap="square">
            <a:spAutoFit/>
          </a:bodyPr>
          <a:lstStyle/>
          <a:p>
            <a:pPr>
              <a:spcAft>
                <a:spcPts val="1200"/>
              </a:spcAft>
              <a:defRPr sz="1800" b="1">
                <a:solidFill>
                  <a:srgbClr val="30B1DC"/>
                </a:solidFill>
                <a:latin typeface="Aptos"/>
              </a:defRPr>
            </a:pPr>
            <a:r>
              <a:t>DEMO GOAL</a:t>
            </a:r>
          </a:p>
        </p:txBody>
      </p:sp>
      <p:sp>
        <p:nvSpPr>
          <p:cNvPr id="8" name="TextBox 7"/>
          <p:cNvSpPr txBox="1"/>
          <p:nvPr/>
        </p:nvSpPr>
        <p:spPr>
          <a:xfrm>
            <a:off x="978408" y="2039112"/>
            <a:ext cx="6263640" cy="2697479"/>
          </a:xfrm>
          <a:prstGeom prst="rect">
            <a:avLst/>
          </a:prstGeom>
          <a:noFill/>
        </p:spPr>
        <p:txBody>
          <a:bodyPr wrap="square">
            <a:spAutoFit/>
          </a:bodyPr>
          <a:lstStyle/>
          <a:p>
            <a:pPr>
              <a:spcAft>
                <a:spcPts val="1200"/>
              </a:spcAft>
              <a:defRPr sz="2300" b="0">
                <a:solidFill>
                  <a:srgbClr val="F4F9FC"/>
                </a:solidFill>
                <a:latin typeface="Aptos"/>
              </a:defRPr>
            </a:pPr>
            <a:r>
              <a:t>Show a reproducible heart-rate processing baseline and an initial sensor acquisition path, with the hardware status demonstrated rather than assumed.</a:t>
            </a:r>
          </a:p>
        </p:txBody>
      </p:sp>
      <p:sp>
        <p:nvSpPr>
          <p:cNvPr id="9" name="Rounded Rectangle 8"/>
          <p:cNvSpPr/>
          <p:nvPr/>
        </p:nvSpPr>
        <p:spPr>
          <a:xfrm>
            <a:off x="7680960" y="1371600"/>
            <a:ext cx="3657600" cy="3474720"/>
          </a:xfrm>
          <a:prstGeom prst="roundRect">
            <a:avLst/>
          </a:prstGeom>
          <a:solidFill>
            <a:srgbClr val="182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82128" y="1536192"/>
            <a:ext cx="3291840" cy="393192"/>
          </a:xfrm>
          <a:prstGeom prst="rect">
            <a:avLst/>
          </a:prstGeom>
          <a:noFill/>
        </p:spPr>
        <p:txBody>
          <a:bodyPr wrap="square">
            <a:spAutoFit/>
          </a:bodyPr>
          <a:lstStyle/>
          <a:p>
            <a:pPr>
              <a:spcAft>
                <a:spcPts val="1200"/>
              </a:spcAft>
              <a:defRPr sz="1800" b="1">
                <a:solidFill>
                  <a:srgbClr val="30B1DC"/>
                </a:solidFill>
                <a:latin typeface="Aptos"/>
              </a:defRPr>
            </a:pPr>
            <a:r>
              <a:t>PRIORITIES</a:t>
            </a:r>
          </a:p>
        </p:txBody>
      </p:sp>
      <p:sp>
        <p:nvSpPr>
          <p:cNvPr id="11" name="TextBox 10"/>
          <p:cNvSpPr txBox="1"/>
          <p:nvPr/>
        </p:nvSpPr>
        <p:spPr>
          <a:xfrm>
            <a:off x="7882128" y="2039112"/>
            <a:ext cx="3246120" cy="2697479"/>
          </a:xfrm>
          <a:prstGeom prst="rect">
            <a:avLst/>
          </a:prstGeom>
          <a:noFill/>
        </p:spPr>
        <p:txBody>
          <a:bodyPr wrap="square">
            <a:spAutoFit/>
          </a:bodyPr>
          <a:lstStyle/>
          <a:p>
            <a:pPr>
              <a:spcAft>
                <a:spcPts val="1200"/>
              </a:spcAft>
              <a:defRPr sz="1700" b="0">
                <a:solidFill>
                  <a:srgbClr val="F4F9FC"/>
                </a:solidFill>
                <a:latin typeface="Aptos"/>
              </a:defRPr>
            </a:pPr>
            <a:r>
              <a:t>1. Lock components and architecture</a:t>
            </a:r>
          </a:p>
          <a:p>
            <a:pPr>
              <a:spcAft>
                <a:spcPts val="1200"/>
              </a:spcAft>
              <a:defRPr sz="1700" b="0">
                <a:solidFill>
                  <a:srgbClr val="F4F9FC"/>
                </a:solidFill>
                <a:latin typeface="Aptos"/>
              </a:defRPr>
            </a:pPr>
            <a:r>
              <a:t>2. Test PPG + IMU acquisition</a:t>
            </a:r>
          </a:p>
          <a:p>
            <a:pPr>
              <a:spcAft>
                <a:spcPts val="1200"/>
              </a:spcAft>
              <a:defRPr sz="1700" b="0">
                <a:solidFill>
                  <a:srgbClr val="F4F9FC"/>
                </a:solidFill>
                <a:latin typeface="Aptos"/>
              </a:defRPr>
            </a:pPr>
            <a:r>
              <a:t>3. Define ECG-reference protocol</a:t>
            </a:r>
          </a:p>
          <a:p>
            <a:pPr>
              <a:spcAft>
                <a:spcPts val="1200"/>
              </a:spcAft>
              <a:defRPr sz="1700" b="0">
                <a:solidFill>
                  <a:srgbClr val="F4F9FC"/>
                </a:solidFill>
                <a:latin typeface="Aptos"/>
              </a:defRPr>
            </a:pPr>
            <a:r>
              <a:t>4. Plan 2×2 geometry × filtering study</a:t>
            </a:r>
          </a:p>
        </p:txBody>
      </p:sp>
      <p:sp>
        <p:nvSpPr>
          <p:cNvPr id="12" name="TextBox 11"/>
          <p:cNvSpPr txBox="1"/>
          <p:nvPr/>
        </p:nvSpPr>
        <p:spPr>
          <a:xfrm>
            <a:off x="868680" y="5230368"/>
            <a:ext cx="10515600" cy="804672"/>
          </a:xfrm>
          <a:prstGeom prst="rect">
            <a:avLst/>
          </a:prstGeom>
          <a:noFill/>
        </p:spPr>
        <p:txBody>
          <a:bodyPr wrap="square">
            <a:spAutoFit/>
          </a:bodyPr>
          <a:lstStyle/>
          <a:p>
            <a:pPr>
              <a:spcAft>
                <a:spcPts val="1200"/>
              </a:spcAft>
              <a:defRPr sz="1800" b="0">
                <a:solidFill>
                  <a:srgbClr val="ACC0CF"/>
                </a:solidFill>
                <a:latin typeface="Aptos"/>
              </a:defRPr>
            </a:pPr>
            <a:r>
              <a:t>Main risk: hardware integration and synchronized sensor streams.</a:t>
            </a:r>
          </a:p>
          <a:p>
            <a:pPr>
              <a:spcAft>
                <a:spcPts val="1200"/>
              </a:spcAft>
              <a:defRPr sz="1800" b="0">
                <a:solidFill>
                  <a:srgbClr val="ACC0CF"/>
                </a:solidFill>
                <a:latin typeface="Aptos"/>
              </a:defRPr>
            </a:pPr>
            <a:r>
              <a:t>Help needed: feedback on reference setup and feasible test protocol.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1164</Words>
  <Application>Microsoft Office PowerPoint</Application>
  <PresentationFormat>Widescreen</PresentationFormat>
  <Paragraphs>97</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Aoke Huang</dc:creator>
  <cp:keywords/>
  <dc:description>generated using python-pptx</dc:description>
  <cp:lastModifiedBy>Aoke Huang</cp:lastModifiedBy>
  <cp:revision>3</cp:revision>
  <dcterms:created xsi:type="dcterms:W3CDTF">2013-01-27T09:14:16Z</dcterms:created>
  <dcterms:modified xsi:type="dcterms:W3CDTF">2026-10-13T18:49:33Z</dcterms:modified>
  <cp:category/>
</cp:coreProperties>
</file>